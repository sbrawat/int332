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70" r:id="rId3"/>
    <p:sldId id="271" r:id="rId4"/>
    <p:sldId id="258" r:id="rId5"/>
    <p:sldId id="259" r:id="rId6"/>
    <p:sldId id="260" r:id="rId7"/>
    <p:sldId id="261" r:id="rId8"/>
    <p:sldId id="273" r:id="rId9"/>
    <p:sldId id="274" r:id="rId10"/>
    <p:sldId id="275" r:id="rId11"/>
    <p:sldId id="276" r:id="rId12"/>
    <p:sldId id="280" r:id="rId13"/>
    <p:sldId id="278" r:id="rId14"/>
    <p:sldId id="279" r:id="rId15"/>
    <p:sldId id="277" r:id="rId16"/>
    <p:sldId id="281" r:id="rId17"/>
    <p:sldId id="285" r:id="rId18"/>
    <p:sldId id="28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17C997F1-B288-4864-BE87-C50AB6BE36D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191218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997F1-B288-4864-BE87-C50AB6BE36D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3124465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C997F1-B288-4864-BE87-C50AB6BE36D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3450074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C997F1-B288-4864-BE87-C50AB6BE36D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1482171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C997F1-B288-4864-BE87-C50AB6BE36D1}"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4253696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C997F1-B288-4864-BE87-C50AB6BE36D1}"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1016027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7C997F1-B288-4864-BE87-C50AB6BE36D1}"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2886229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C997F1-B288-4864-BE87-C50AB6BE36D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989961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7C997F1-B288-4864-BE87-C50AB6BE36D1}"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438637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997F1-B288-4864-BE87-C50AB6BE36D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3115753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7C997F1-B288-4864-BE87-C50AB6BE36D1}"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85A727-A508-4E7D-BE80-CDE3D531BF8B}" type="slidenum">
              <a:rPr lang="en-US" smtClean="0"/>
              <a:t>‹#›</a:t>
            </a:fld>
            <a:endParaRPr lang="en-US"/>
          </a:p>
        </p:txBody>
      </p:sp>
    </p:spTree>
    <p:extLst>
      <p:ext uri="{BB962C8B-B14F-4D97-AF65-F5344CB8AC3E}">
        <p14:creationId xmlns:p14="http://schemas.microsoft.com/office/powerpoint/2010/main" val="40155532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7C997F1-B288-4864-BE87-C50AB6BE36D1}"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85A727-A508-4E7D-BE80-CDE3D531BF8B}" type="slidenum">
              <a:rPr lang="en-US" smtClean="0"/>
              <a:t>‹#›</a:t>
            </a:fld>
            <a:endParaRPr lang="en-US"/>
          </a:p>
        </p:txBody>
      </p:sp>
    </p:spTree>
    <p:extLst>
      <p:ext uri="{BB962C8B-B14F-4D97-AF65-F5344CB8AC3E}">
        <p14:creationId xmlns:p14="http://schemas.microsoft.com/office/powerpoint/2010/main" val="7812062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simplilearn.com/tutorials/programming-tutorial/what-is-x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mvnrepository.com/"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onlineitguru.com/blog/explain-the-advantages-and-disadvantages-of-maven"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Maven</a:t>
            </a:r>
            <a:br>
              <a:rPr lang="en-US" b="1" dirty="0"/>
            </a:br>
            <a:endParaRPr lang="en-US" dirty="0"/>
          </a:p>
        </p:txBody>
      </p:sp>
      <p:sp>
        <p:nvSpPr>
          <p:cNvPr id="3" name="Content Placeholder 2"/>
          <p:cNvSpPr>
            <a:spLocks noGrp="1"/>
          </p:cNvSpPr>
          <p:nvPr>
            <p:ph idx="1"/>
          </p:nvPr>
        </p:nvSpPr>
        <p:spPr/>
        <p:txBody>
          <a:bodyPr/>
          <a:lstStyle/>
          <a:p>
            <a:pPr algn="just"/>
            <a:r>
              <a:rPr lang="en-US" dirty="0"/>
              <a:t>Maven is free and extensible and it’s distributed as a small core module. All features are implemented as plug-ins and are loaded on demand. These plug-ins are also stored in repositories. You (or other developers) can easily write plug-ins in Java or other scripting languages.  </a:t>
            </a:r>
          </a:p>
          <a:p>
            <a:pPr algn="just"/>
            <a:r>
              <a:rPr lang="en-US" dirty="0"/>
              <a:t>Maven is a powerful project management tool that is based on POM (project object model). It is used for projects build, dependency and documentation.</a:t>
            </a:r>
          </a:p>
          <a:p>
            <a:pPr algn="just"/>
            <a:endParaRPr lang="en-US" dirty="0"/>
          </a:p>
        </p:txBody>
      </p:sp>
    </p:spTree>
    <p:extLst>
      <p:ext uri="{BB962C8B-B14F-4D97-AF65-F5344CB8AC3E}">
        <p14:creationId xmlns:p14="http://schemas.microsoft.com/office/powerpoint/2010/main" val="2603535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583B6-6470-1EC5-90D0-1EE4927E023B}"/>
              </a:ext>
            </a:extLst>
          </p:cNvPr>
          <p:cNvSpPr>
            <a:spLocks noGrp="1"/>
          </p:cNvSpPr>
          <p:nvPr>
            <p:ph type="title"/>
          </p:nvPr>
        </p:nvSpPr>
        <p:spPr/>
        <p:txBody>
          <a:bodyPr/>
          <a:lstStyle/>
          <a:p>
            <a:r>
              <a:rPr lang="en-US" b="1" dirty="0"/>
              <a:t>Maven as a </a:t>
            </a:r>
            <a:r>
              <a:rPr lang="en-US" b="1" dirty="0" err="1"/>
              <a:t>Devops</a:t>
            </a:r>
            <a:r>
              <a:rPr lang="en-US" b="1" dirty="0"/>
              <a:t> Tool</a:t>
            </a:r>
            <a:br>
              <a:rPr lang="en-US" b="1" dirty="0"/>
            </a:br>
            <a:endParaRPr lang="en-US" dirty="0"/>
          </a:p>
        </p:txBody>
      </p:sp>
      <p:sp>
        <p:nvSpPr>
          <p:cNvPr id="3" name="Content Placeholder 2">
            <a:extLst>
              <a:ext uri="{FF2B5EF4-FFF2-40B4-BE49-F238E27FC236}">
                <a16:creationId xmlns:a16="http://schemas.microsoft.com/office/drawing/2014/main" id="{01AF1393-CF72-F66F-1DFD-F0E7D7F3B19C}"/>
              </a:ext>
            </a:extLst>
          </p:cNvPr>
          <p:cNvSpPr>
            <a:spLocks noGrp="1"/>
          </p:cNvSpPr>
          <p:nvPr>
            <p:ph idx="1"/>
          </p:nvPr>
        </p:nvSpPr>
        <p:spPr/>
        <p:txBody>
          <a:bodyPr/>
          <a:lstStyle/>
          <a:p>
            <a:r>
              <a:rPr lang="en-US" i="1" dirty="0"/>
              <a:t>Apache Maven</a:t>
            </a:r>
            <a:r>
              <a:rPr lang="en-US" dirty="0"/>
              <a:t> is an build tool mainly for Java applications to help the developer at the whole process of a software project.</a:t>
            </a:r>
          </a:p>
          <a:p>
            <a:pPr marL="0" indent="0">
              <a:buNone/>
            </a:pPr>
            <a:r>
              <a:rPr lang="en-US" b="1" dirty="0"/>
              <a:t>What Maven does ?</a:t>
            </a:r>
          </a:p>
          <a:p>
            <a:pPr>
              <a:buFont typeface="Arial" panose="020B0604020202020204" pitchFamily="34" charset="0"/>
              <a:buChar char="•"/>
            </a:pPr>
            <a:r>
              <a:rPr lang="en-US" dirty="0"/>
              <a:t>Compilation of Source Code</a:t>
            </a:r>
          </a:p>
          <a:p>
            <a:pPr>
              <a:buFont typeface="Arial" panose="020B0604020202020204" pitchFamily="34" charset="0"/>
              <a:buChar char="•"/>
            </a:pPr>
            <a:r>
              <a:rPr lang="en-US" dirty="0"/>
              <a:t>Running Tests (unit tests and functional tests)</a:t>
            </a:r>
          </a:p>
          <a:p>
            <a:pPr>
              <a:buFont typeface="Arial" panose="020B0604020202020204" pitchFamily="34" charset="0"/>
              <a:buChar char="•"/>
            </a:pPr>
            <a:r>
              <a:rPr lang="en-US" dirty="0"/>
              <a:t>Packaging the results into </a:t>
            </a:r>
            <a:r>
              <a:rPr lang="en-US" dirty="0" err="1"/>
              <a:t>JAR’s,WAR’s,RPM’s,etc</a:t>
            </a:r>
            <a:r>
              <a:rPr lang="en-US" dirty="0"/>
              <a:t>..</a:t>
            </a:r>
          </a:p>
          <a:p>
            <a:pPr>
              <a:buFont typeface="Arial" panose="020B0604020202020204" pitchFamily="34" charset="0"/>
              <a:buChar char="•"/>
            </a:pPr>
            <a:r>
              <a:rPr lang="en-US" dirty="0"/>
              <a:t>Upload the packages to remote repo’s (</a:t>
            </a:r>
            <a:r>
              <a:rPr lang="en-US" dirty="0" err="1"/>
              <a:t>Nexus,Artifactory</a:t>
            </a:r>
            <a:r>
              <a:rPr lang="en-US" dirty="0"/>
              <a:t>)</a:t>
            </a:r>
          </a:p>
          <a:p>
            <a:pPr marL="0" indent="0">
              <a:buNone/>
            </a:pPr>
            <a:endParaRPr lang="en-US" b="1" dirty="0"/>
          </a:p>
          <a:p>
            <a:endParaRPr lang="en-US" dirty="0"/>
          </a:p>
        </p:txBody>
      </p:sp>
    </p:spTree>
    <p:extLst>
      <p:ext uri="{BB962C8B-B14F-4D97-AF65-F5344CB8AC3E}">
        <p14:creationId xmlns:p14="http://schemas.microsoft.com/office/powerpoint/2010/main" val="3527693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F641CB-99E4-AD32-7D15-A93BF4773F2A}"/>
              </a:ext>
            </a:extLst>
          </p:cNvPr>
          <p:cNvSpPr>
            <a:spLocks noGrp="1"/>
          </p:cNvSpPr>
          <p:nvPr>
            <p:ph type="title"/>
          </p:nvPr>
        </p:nvSpPr>
        <p:spPr/>
        <p:txBody>
          <a:bodyPr/>
          <a:lstStyle/>
          <a:p>
            <a:r>
              <a:rPr lang="en-US" b="1" dirty="0"/>
              <a:t>Maven as a </a:t>
            </a:r>
            <a:r>
              <a:rPr lang="en-US" b="1" dirty="0" err="1"/>
              <a:t>Devops</a:t>
            </a:r>
            <a:r>
              <a:rPr lang="en-US" b="1" dirty="0"/>
              <a:t> Tool</a:t>
            </a:r>
            <a:br>
              <a:rPr lang="en-US" b="1" dirty="0"/>
            </a:br>
            <a:endParaRPr lang="en-US" dirty="0"/>
          </a:p>
        </p:txBody>
      </p:sp>
      <p:sp>
        <p:nvSpPr>
          <p:cNvPr id="3" name="Content Placeholder 2">
            <a:extLst>
              <a:ext uri="{FF2B5EF4-FFF2-40B4-BE49-F238E27FC236}">
                <a16:creationId xmlns:a16="http://schemas.microsoft.com/office/drawing/2014/main" id="{6DEE980D-BFEF-C7DF-6B44-A78F23BA065C}"/>
              </a:ext>
            </a:extLst>
          </p:cNvPr>
          <p:cNvSpPr>
            <a:spLocks noGrp="1"/>
          </p:cNvSpPr>
          <p:nvPr>
            <p:ph idx="1"/>
          </p:nvPr>
        </p:nvSpPr>
        <p:spPr/>
        <p:txBody>
          <a:bodyPr>
            <a:normAutofit fontScale="92500" lnSpcReduction="10000"/>
          </a:bodyPr>
          <a:lstStyle/>
          <a:p>
            <a:pPr>
              <a:buFont typeface="+mj-lt"/>
              <a:buAutoNum type="arabicPeriod"/>
            </a:pPr>
            <a:r>
              <a:rPr lang="en-US" dirty="0"/>
              <a:t>We can easily build a project using maven.</a:t>
            </a:r>
          </a:p>
          <a:p>
            <a:pPr>
              <a:buFont typeface="+mj-lt"/>
              <a:buAutoNum type="arabicPeriod"/>
            </a:pPr>
            <a:r>
              <a:rPr lang="en-US" dirty="0"/>
              <a:t>We can add jars and other dependencies of the project easily using the help of maven.</a:t>
            </a:r>
          </a:p>
          <a:p>
            <a:pPr>
              <a:buFont typeface="+mj-lt"/>
              <a:buAutoNum type="arabicPeriod"/>
            </a:pPr>
            <a:r>
              <a:rPr lang="en-US" dirty="0"/>
              <a:t>Maven provides project information (log document, dependency list, unit test reports etc.)</a:t>
            </a:r>
          </a:p>
          <a:p>
            <a:pPr>
              <a:buFont typeface="+mj-lt"/>
              <a:buAutoNum type="arabicPeriod"/>
            </a:pPr>
            <a:r>
              <a:rPr lang="en-US" dirty="0"/>
              <a:t>Maven is very helpful for a project while updating central repository of JARs and other dependencies.</a:t>
            </a:r>
          </a:p>
          <a:p>
            <a:pPr>
              <a:buFont typeface="+mj-lt"/>
              <a:buAutoNum type="arabicPeriod"/>
            </a:pPr>
            <a:r>
              <a:rPr lang="en-US" dirty="0"/>
              <a:t>With the help of Maven we can build any number of projects into output types like the JAR, WAR </a:t>
            </a:r>
            <a:r>
              <a:rPr lang="en-US" dirty="0" err="1"/>
              <a:t>etc</a:t>
            </a:r>
            <a:r>
              <a:rPr lang="en-US" dirty="0"/>
              <a:t> without doing any scripting.</a:t>
            </a:r>
          </a:p>
          <a:p>
            <a:pPr>
              <a:buFont typeface="+mj-lt"/>
              <a:buAutoNum type="arabicPeriod"/>
            </a:pPr>
            <a:r>
              <a:rPr lang="en-US" dirty="0"/>
              <a:t>Using maven we can easily integrate our project with source control system (such as Subversion or Git).</a:t>
            </a:r>
          </a:p>
          <a:p>
            <a:endParaRPr lang="en-US" dirty="0"/>
          </a:p>
        </p:txBody>
      </p:sp>
    </p:spTree>
    <p:extLst>
      <p:ext uri="{BB962C8B-B14F-4D97-AF65-F5344CB8AC3E}">
        <p14:creationId xmlns:p14="http://schemas.microsoft.com/office/powerpoint/2010/main" val="3645307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8643" y="793561"/>
            <a:ext cx="10522039" cy="3970318"/>
          </a:xfrm>
          <a:prstGeom prst="rect">
            <a:avLst/>
          </a:prstGeom>
        </p:spPr>
        <p:txBody>
          <a:bodyPr wrap="square">
            <a:spAutoFit/>
          </a:bodyPr>
          <a:lstStyle/>
          <a:p>
            <a:pPr algn="just"/>
            <a:r>
              <a:rPr lang="en-US" sz="2800" dirty="0"/>
              <a:t>Maven provides a simple way to set up projects that follow common best practices, including a default directory structure that makes it easier to understand how a project is structured. A consistent and unified directory structure simplifies software development and provides a standard based on industry best practices. Many Maven features, configurations, and settings are provided implicitly. You can change Maven’s default behavior at many points and can configure almost everything, but generally it’s better to stay with the commonly accepted conventions.</a:t>
            </a:r>
          </a:p>
        </p:txBody>
      </p:sp>
    </p:spTree>
    <p:extLst>
      <p:ext uri="{BB962C8B-B14F-4D97-AF65-F5344CB8AC3E}">
        <p14:creationId xmlns:p14="http://schemas.microsoft.com/office/powerpoint/2010/main" val="2789205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Lifecycles, phases, and goals</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a:t>Maven requires that you describe what your project is doing. To this end, Maven offers lifecycles and individual phases that you can configure to tell Maven what to do in these phases. </a:t>
            </a:r>
          </a:p>
          <a:p>
            <a:pPr marL="0" indent="0" algn="just">
              <a:buNone/>
            </a:pPr>
            <a:endParaRPr lang="en-US" dirty="0"/>
          </a:p>
          <a:p>
            <a:pPr marL="0" indent="0" algn="just">
              <a:buNone/>
            </a:pPr>
            <a:r>
              <a:rPr lang="en-US" dirty="0">
                <a:sym typeface="Wingdings" panose="05000000000000000000" pitchFamily="2" charset="2"/>
              </a:rPr>
              <a:t> </a:t>
            </a:r>
            <a:r>
              <a:rPr lang="en-US" dirty="0" err="1"/>
              <a:t>Validate,Compile,Test,Package,Integration</a:t>
            </a:r>
            <a:r>
              <a:rPr lang="en-US" dirty="0"/>
              <a:t> </a:t>
            </a:r>
            <a:r>
              <a:rPr lang="en-US" dirty="0" err="1"/>
              <a:t>test,Verify,Deploy</a:t>
            </a:r>
            <a:endParaRPr lang="en-US" dirty="0"/>
          </a:p>
          <a:p>
            <a:pPr marL="0" indent="0" algn="just">
              <a:buNone/>
            </a:pPr>
            <a:endParaRPr lang="en-US" dirty="0"/>
          </a:p>
          <a:p>
            <a:pPr marL="0" indent="0">
              <a:buNone/>
            </a:pPr>
            <a:r>
              <a:rPr lang="en-US" dirty="0"/>
              <a:t>compile — compiles the source code</a:t>
            </a:r>
          </a:p>
          <a:p>
            <a:pPr marL="0" indent="0">
              <a:buNone/>
            </a:pPr>
            <a:r>
              <a:rPr lang="en-US" dirty="0"/>
              <a:t>test — executes unit test cases</a:t>
            </a:r>
          </a:p>
          <a:p>
            <a:pPr marL="0" indent="0">
              <a:buNone/>
            </a:pPr>
            <a:r>
              <a:rPr lang="en-US" dirty="0"/>
              <a:t>package — bundles the compiled code (Ex: war / jar)</a:t>
            </a:r>
          </a:p>
          <a:p>
            <a:pPr marL="0" indent="0">
              <a:buNone/>
            </a:pPr>
            <a:r>
              <a:rPr lang="en-US" dirty="0"/>
              <a:t>install — stores the built package in local Maven repository</a:t>
            </a:r>
          </a:p>
          <a:p>
            <a:pPr marL="0" indent="0">
              <a:buNone/>
            </a:pPr>
            <a:r>
              <a:rPr lang="en-US" dirty="0"/>
              <a:t>deploy — store in remote repository for sharing</a:t>
            </a:r>
          </a:p>
          <a:p>
            <a:pPr marL="0" indent="0" algn="just">
              <a:buNone/>
            </a:pPr>
            <a:endParaRPr lang="en-US" dirty="0"/>
          </a:p>
        </p:txBody>
      </p:sp>
    </p:spTree>
    <p:extLst>
      <p:ext uri="{BB962C8B-B14F-4D97-AF65-F5344CB8AC3E}">
        <p14:creationId xmlns:p14="http://schemas.microsoft.com/office/powerpoint/2010/main" val="1361719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Maven and testing </a:t>
            </a:r>
            <a:br>
              <a:rPr lang="en-US" b="1" dirty="0"/>
            </a:br>
            <a:endParaRPr lang="en-US" dirty="0"/>
          </a:p>
        </p:txBody>
      </p:sp>
      <p:sp>
        <p:nvSpPr>
          <p:cNvPr id="3" name="Content Placeholder 2"/>
          <p:cNvSpPr>
            <a:spLocks noGrp="1"/>
          </p:cNvSpPr>
          <p:nvPr>
            <p:ph idx="1"/>
          </p:nvPr>
        </p:nvSpPr>
        <p:spPr/>
        <p:txBody>
          <a:bodyPr/>
          <a:lstStyle/>
          <a:p>
            <a:pPr algn="just"/>
            <a:r>
              <a:rPr lang="en-US" dirty="0"/>
              <a:t>Maven is ideally suited for running all your tests as part of your normal build setup. You don’t need a customized environment for different types of tests. Unit tests run by default, and integration tests are specified as a phase in the Maven build (between the packaging and the install phases). In this way, you can rely upon the previously built package, which can output a WAR file. To run your integration tests, you need to add and configure the dedicated plug-ins. </a:t>
            </a:r>
          </a:p>
        </p:txBody>
      </p:sp>
    </p:spTree>
    <p:extLst>
      <p:ext uri="{BB962C8B-B14F-4D97-AF65-F5344CB8AC3E}">
        <p14:creationId xmlns:p14="http://schemas.microsoft.com/office/powerpoint/2010/main" val="698863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Maven component repositories</a:t>
            </a:r>
            <a:br>
              <a:rPr lang="en-US" b="1" dirty="0"/>
            </a:br>
            <a:endParaRPr lang="en-US" dirty="0"/>
          </a:p>
        </p:txBody>
      </p:sp>
      <p:sp>
        <p:nvSpPr>
          <p:cNvPr id="3" name="Content Placeholder 2"/>
          <p:cNvSpPr>
            <a:spLocks noGrp="1"/>
          </p:cNvSpPr>
          <p:nvPr>
            <p:ph idx="1"/>
          </p:nvPr>
        </p:nvSpPr>
        <p:spPr/>
        <p:txBody>
          <a:bodyPr/>
          <a:lstStyle/>
          <a:p>
            <a:pPr algn="just"/>
            <a:r>
              <a:rPr lang="en-US" dirty="0"/>
              <a:t>Maven repositories are essential for organizing build artifacts of varying types and their dependencies on each other. Two types of repositories are </a:t>
            </a:r>
            <a:r>
              <a:rPr lang="en-US" i="1" dirty="0"/>
              <a:t>remote</a:t>
            </a:r>
            <a:r>
              <a:rPr lang="en-US" dirty="0"/>
              <a:t> and </a:t>
            </a:r>
            <a:r>
              <a:rPr lang="en-US" i="1" dirty="0"/>
              <a:t>local</a:t>
            </a:r>
            <a:r>
              <a:rPr lang="en-US" dirty="0"/>
              <a:t>. </a:t>
            </a:r>
          </a:p>
        </p:txBody>
      </p:sp>
    </p:spTree>
    <p:extLst>
      <p:ext uri="{BB962C8B-B14F-4D97-AF65-F5344CB8AC3E}">
        <p14:creationId xmlns:p14="http://schemas.microsoft.com/office/powerpoint/2010/main" val="28100492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65D5D-78E0-8132-6871-6065BE96C1CE}"/>
              </a:ext>
            </a:extLst>
          </p:cNvPr>
          <p:cNvSpPr>
            <a:spLocks noGrp="1"/>
          </p:cNvSpPr>
          <p:nvPr>
            <p:ph type="title"/>
          </p:nvPr>
        </p:nvSpPr>
        <p:spPr/>
        <p:txBody>
          <a:bodyPr/>
          <a:lstStyle/>
          <a:p>
            <a:r>
              <a:rPr lang="en-US" b="1" dirty="0"/>
              <a:t>Core Concepts of Maven:</a:t>
            </a:r>
            <a:endParaRPr lang="en-US" dirty="0"/>
          </a:p>
        </p:txBody>
      </p:sp>
      <p:sp>
        <p:nvSpPr>
          <p:cNvPr id="3" name="Content Placeholder 2">
            <a:extLst>
              <a:ext uri="{FF2B5EF4-FFF2-40B4-BE49-F238E27FC236}">
                <a16:creationId xmlns:a16="http://schemas.microsoft.com/office/drawing/2014/main" id="{BEA26ADC-1D77-346B-1E69-53DB1A3ACD33}"/>
              </a:ext>
            </a:extLst>
          </p:cNvPr>
          <p:cNvSpPr>
            <a:spLocks noGrp="1"/>
          </p:cNvSpPr>
          <p:nvPr>
            <p:ph idx="1"/>
          </p:nvPr>
        </p:nvSpPr>
        <p:spPr/>
        <p:txBody>
          <a:bodyPr>
            <a:normAutofit fontScale="77500" lnSpcReduction="20000"/>
          </a:bodyPr>
          <a:lstStyle/>
          <a:p>
            <a:pPr>
              <a:buFont typeface="+mj-lt"/>
              <a:buAutoNum type="arabicPeriod"/>
            </a:pPr>
            <a:r>
              <a:rPr lang="en-US" b="1" dirty="0"/>
              <a:t>POM Files:</a:t>
            </a:r>
            <a:r>
              <a:rPr lang="en-US" dirty="0"/>
              <a:t> Project Object Model(POM) Files are XML file that contains information related to the project and configuration information such as dependencies, source directory, plugin, goals etc. used by Maven to build the project. When you should execute a maven command you give maven a POM file to execute the commands. Maven reads pom.xml file to accomplish its configuration and operations.</a:t>
            </a:r>
          </a:p>
          <a:p>
            <a:pPr>
              <a:buFont typeface="+mj-lt"/>
              <a:buAutoNum type="arabicPeriod"/>
            </a:pPr>
            <a:r>
              <a:rPr lang="en-US" b="1" dirty="0"/>
              <a:t>Dependencies and Repositories:</a:t>
            </a:r>
            <a:r>
              <a:rPr lang="en-US" dirty="0"/>
              <a:t> Dependencies are external Java libraries required for Project and repositories are directories of packaged JAR files. The local repository is just a directory on your machine hard drive. If the dependencies are not found in the local Maven repository, Maven downloads them from a central Maven repository and puts them in your local repository.</a:t>
            </a:r>
          </a:p>
          <a:p>
            <a:pPr>
              <a:buFont typeface="+mj-lt"/>
              <a:buAutoNum type="arabicPeriod"/>
            </a:pPr>
            <a:r>
              <a:rPr lang="en-US" b="1" dirty="0"/>
              <a:t>Build Life Cycles, Phases and Goals:</a:t>
            </a:r>
            <a:r>
              <a:rPr lang="en-US" dirty="0"/>
              <a:t> A build life cycle consists of a sequence of build phases, and each build phase consists of a sequence of goals. Maven command is the name of a build lifecycle, phase or goal. If a lifecycle is requested executed by giving maven command, all build phases in that life cycle are executed also. If a build phase is requested executed, all build phases before it in the defined sequence are executed too.</a:t>
            </a:r>
          </a:p>
          <a:p>
            <a:pPr marL="0" indent="0">
              <a:buNone/>
            </a:pPr>
            <a:endParaRPr lang="en-US" dirty="0"/>
          </a:p>
        </p:txBody>
      </p:sp>
    </p:spTree>
    <p:extLst>
      <p:ext uri="{BB962C8B-B14F-4D97-AF65-F5344CB8AC3E}">
        <p14:creationId xmlns:p14="http://schemas.microsoft.com/office/powerpoint/2010/main" val="621316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3153A-E2FD-3F84-BA38-AD1B2373B253}"/>
              </a:ext>
            </a:extLst>
          </p:cNvPr>
          <p:cNvSpPr>
            <a:spLocks noGrp="1"/>
          </p:cNvSpPr>
          <p:nvPr>
            <p:ph idx="1"/>
          </p:nvPr>
        </p:nvSpPr>
        <p:spPr/>
        <p:txBody>
          <a:bodyPr/>
          <a:lstStyle/>
          <a:p>
            <a:pPr marL="0" indent="0">
              <a:buNone/>
            </a:pPr>
            <a:r>
              <a:rPr lang="en-US" b="1" dirty="0"/>
              <a:t>4. Build Profiles:</a:t>
            </a:r>
            <a:r>
              <a:rPr lang="en-US" dirty="0"/>
              <a:t> Build profiles a set of configuration values which allows you to build your project using different configurations. For example, you may need to build your project for your local computer, for development and test. To enable different builds you can add different build profiles to your POM files using its profiles elements and are triggered in the variety of ways.</a:t>
            </a:r>
          </a:p>
          <a:p>
            <a:pPr marL="0" indent="0">
              <a:buNone/>
            </a:pPr>
            <a:r>
              <a:rPr lang="en-US" b="1" dirty="0"/>
              <a:t>5. Build Plugins:</a:t>
            </a:r>
            <a:r>
              <a:rPr lang="en-US" dirty="0"/>
              <a:t> Build plugins are used to perform specific goal. you can add a plugin to the POM file. Maven has some standard plugins you can use, and you can also implement your own in Java.</a:t>
            </a:r>
          </a:p>
          <a:p>
            <a:endParaRPr lang="en-US" dirty="0"/>
          </a:p>
        </p:txBody>
      </p:sp>
    </p:spTree>
    <p:extLst>
      <p:ext uri="{BB962C8B-B14F-4D97-AF65-F5344CB8AC3E}">
        <p14:creationId xmlns:p14="http://schemas.microsoft.com/office/powerpoint/2010/main" val="2583276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7882C-B378-7505-6DC2-C45B680B0D96}"/>
              </a:ext>
            </a:extLst>
          </p:cNvPr>
          <p:cNvSpPr>
            <a:spLocks noGrp="1"/>
          </p:cNvSpPr>
          <p:nvPr>
            <p:ph type="title"/>
          </p:nvPr>
        </p:nvSpPr>
        <p:spPr/>
        <p:txBody>
          <a:bodyPr/>
          <a:lstStyle/>
          <a:p>
            <a:r>
              <a:rPr lang="en-US" b="1" dirty="0"/>
              <a:t>Installation process of Maven</a:t>
            </a:r>
            <a:br>
              <a:rPr lang="en-US" b="1" dirty="0"/>
            </a:br>
            <a:endParaRPr lang="en-US" dirty="0"/>
          </a:p>
        </p:txBody>
      </p:sp>
      <p:sp>
        <p:nvSpPr>
          <p:cNvPr id="3" name="Content Placeholder 2">
            <a:extLst>
              <a:ext uri="{FF2B5EF4-FFF2-40B4-BE49-F238E27FC236}">
                <a16:creationId xmlns:a16="http://schemas.microsoft.com/office/drawing/2014/main" id="{1FDC5F03-F7E8-B582-EDD5-257A87713433}"/>
              </a:ext>
            </a:extLst>
          </p:cNvPr>
          <p:cNvSpPr>
            <a:spLocks noGrp="1"/>
          </p:cNvSpPr>
          <p:nvPr>
            <p:ph idx="1"/>
          </p:nvPr>
        </p:nvSpPr>
        <p:spPr/>
        <p:txBody>
          <a:bodyPr>
            <a:normAutofit fontScale="92500"/>
          </a:bodyPr>
          <a:lstStyle/>
          <a:p>
            <a:pPr marL="514350" indent="-514350">
              <a:buAutoNum type="arabicPeriod"/>
            </a:pPr>
            <a:r>
              <a:rPr lang="en-US" dirty="0"/>
              <a:t>Verify that your system has java installed or not. if not then install java.</a:t>
            </a:r>
          </a:p>
          <a:p>
            <a:pPr marL="514350" indent="-514350">
              <a:buAutoNum type="arabicPeriod"/>
            </a:pPr>
            <a:r>
              <a:rPr lang="en-US" dirty="0"/>
              <a:t>Check java Environmental variable is set or not. if not then set java environmental variable.</a:t>
            </a:r>
          </a:p>
          <a:p>
            <a:pPr marL="514350" indent="-514350">
              <a:buAutoNum type="arabicPeriod"/>
            </a:pPr>
            <a:r>
              <a:rPr lang="en-US" dirty="0"/>
              <a:t>Download maven.</a:t>
            </a:r>
          </a:p>
          <a:p>
            <a:pPr marL="514350" indent="-514350">
              <a:buAutoNum type="arabicPeriod"/>
            </a:pPr>
            <a:r>
              <a:rPr lang="en-US" dirty="0"/>
              <a:t>Unpack your maven zip at any place in your system.</a:t>
            </a:r>
          </a:p>
          <a:p>
            <a:pPr marL="514350" indent="-514350">
              <a:buAutoNum type="arabicPeriod"/>
            </a:pPr>
            <a:r>
              <a:rPr lang="en-US" dirty="0"/>
              <a:t>Add the bin directory of the created directory apache-maven-3.5.3(it depends upon your installation version) to the PATH environment variable and system variable.</a:t>
            </a:r>
          </a:p>
          <a:p>
            <a:pPr marL="514350" indent="-514350">
              <a:buAutoNum type="arabicPeriod"/>
            </a:pPr>
            <a:r>
              <a:rPr lang="en-US" dirty="0"/>
              <a:t>open </a:t>
            </a:r>
            <a:r>
              <a:rPr lang="en-US" dirty="0" err="1"/>
              <a:t>cmd</a:t>
            </a:r>
            <a:r>
              <a:rPr lang="en-US" dirty="0"/>
              <a:t> and run </a:t>
            </a:r>
            <a:r>
              <a:rPr lang="en-US" b="1" dirty="0" err="1"/>
              <a:t>mvn</a:t>
            </a:r>
            <a:r>
              <a:rPr lang="en-US" b="1" dirty="0"/>
              <a:t> -v</a:t>
            </a:r>
            <a:r>
              <a:rPr lang="en-US" dirty="0"/>
              <a:t> command. If it print following lines of code then installation completed.</a:t>
            </a:r>
          </a:p>
          <a:p>
            <a:endParaRPr lang="en-US" dirty="0"/>
          </a:p>
        </p:txBody>
      </p:sp>
    </p:spTree>
    <p:extLst>
      <p:ext uri="{BB962C8B-B14F-4D97-AF65-F5344CB8AC3E}">
        <p14:creationId xmlns:p14="http://schemas.microsoft.com/office/powerpoint/2010/main" val="2555272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ECDEE-47B5-B256-3EC7-7F5AADF574A5}"/>
              </a:ext>
            </a:extLst>
          </p:cNvPr>
          <p:cNvSpPr>
            <a:spLocks noGrp="1"/>
          </p:cNvSpPr>
          <p:nvPr>
            <p:ph type="title"/>
          </p:nvPr>
        </p:nvSpPr>
        <p:spPr/>
        <p:txBody>
          <a:bodyPr/>
          <a:lstStyle/>
          <a:p>
            <a:r>
              <a:rPr lang="en-US" dirty="0"/>
              <a:t>POM(Project Object Model)</a:t>
            </a:r>
          </a:p>
        </p:txBody>
      </p:sp>
      <p:sp>
        <p:nvSpPr>
          <p:cNvPr id="3" name="Content Placeholder 2">
            <a:extLst>
              <a:ext uri="{FF2B5EF4-FFF2-40B4-BE49-F238E27FC236}">
                <a16:creationId xmlns:a16="http://schemas.microsoft.com/office/drawing/2014/main" id="{951655A1-4E25-7DD0-B1E8-34CD170E3AA4}"/>
              </a:ext>
            </a:extLst>
          </p:cNvPr>
          <p:cNvSpPr>
            <a:spLocks noGrp="1"/>
          </p:cNvSpPr>
          <p:nvPr>
            <p:ph idx="1"/>
          </p:nvPr>
        </p:nvSpPr>
        <p:spPr/>
        <p:txBody>
          <a:bodyPr/>
          <a:lstStyle/>
          <a:p>
            <a:r>
              <a:rPr lang="en-US" dirty="0"/>
              <a:t>Project Object Model (POM) is an </a:t>
            </a:r>
            <a:r>
              <a:rPr lang="en-US" dirty="0">
                <a:hlinkClick r:id="rId2" tooltip="XML file"/>
              </a:rPr>
              <a:t>XML file</a:t>
            </a:r>
            <a:r>
              <a:rPr lang="en-US" dirty="0"/>
              <a:t> that has all the information regarding project and configuration details. The POM has the description of the project, details regarding the versioning, and configuration management of the project. </a:t>
            </a:r>
          </a:p>
          <a:p>
            <a:r>
              <a:rPr lang="en-US" dirty="0"/>
              <a:t>The XML file is located in the project home directory. When you execute a task, Maven searches for the POM in the current directory.</a:t>
            </a:r>
          </a:p>
          <a:p>
            <a:endParaRPr lang="en-US" dirty="0"/>
          </a:p>
        </p:txBody>
      </p:sp>
    </p:spTree>
    <p:extLst>
      <p:ext uri="{BB962C8B-B14F-4D97-AF65-F5344CB8AC3E}">
        <p14:creationId xmlns:p14="http://schemas.microsoft.com/office/powerpoint/2010/main" val="85670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144A-ED04-1429-B1ED-FDB6AF4A7D07}"/>
              </a:ext>
            </a:extLst>
          </p:cNvPr>
          <p:cNvSpPr>
            <a:spLocks noGrp="1"/>
          </p:cNvSpPr>
          <p:nvPr>
            <p:ph type="title"/>
          </p:nvPr>
        </p:nvSpPr>
        <p:spPr/>
        <p:txBody>
          <a:bodyPr/>
          <a:lstStyle/>
          <a:p>
            <a:r>
              <a:rPr lang="en-US" b="1" dirty="0"/>
              <a:t>The Need for Maven</a:t>
            </a:r>
            <a:br>
              <a:rPr lang="en-US" b="1" dirty="0"/>
            </a:br>
            <a:endParaRPr lang="en-US" dirty="0"/>
          </a:p>
        </p:txBody>
      </p:sp>
      <p:sp>
        <p:nvSpPr>
          <p:cNvPr id="3" name="Content Placeholder 2">
            <a:extLst>
              <a:ext uri="{FF2B5EF4-FFF2-40B4-BE49-F238E27FC236}">
                <a16:creationId xmlns:a16="http://schemas.microsoft.com/office/drawing/2014/main" id="{69EDEF73-313B-25E3-8132-3266BD6BBEB2}"/>
              </a:ext>
            </a:extLst>
          </p:cNvPr>
          <p:cNvSpPr>
            <a:spLocks noGrp="1"/>
          </p:cNvSpPr>
          <p:nvPr>
            <p:ph idx="1"/>
          </p:nvPr>
        </p:nvSpPr>
        <p:spPr/>
        <p:txBody>
          <a:bodyPr/>
          <a:lstStyle/>
          <a:p>
            <a:r>
              <a:rPr lang="en-US" dirty="0"/>
              <a:t>Maven is chiefly used for Java-based projects, helping to download dependencies, which refers to the libraries or JAR files. The tool helps get the right JAR files for each project as there may be different versions of separate packages. </a:t>
            </a:r>
          </a:p>
          <a:p>
            <a:r>
              <a:rPr lang="en-US" dirty="0"/>
              <a:t>After Maven, downloading dependencies doesn’t require visiting the official websites of different software. You can visit </a:t>
            </a:r>
            <a:r>
              <a:rPr lang="en-US" dirty="0" err="1">
                <a:hlinkClick r:id="rId2" tooltip="mvnrepository"/>
              </a:rPr>
              <a:t>mvnrepository</a:t>
            </a:r>
            <a:r>
              <a:rPr lang="en-US" dirty="0"/>
              <a:t> to find libraries in different languages. The tool also helps to create the right project structure which is essential for execution. </a:t>
            </a:r>
          </a:p>
          <a:p>
            <a:endParaRPr lang="en-US" dirty="0"/>
          </a:p>
        </p:txBody>
      </p:sp>
    </p:spTree>
    <p:extLst>
      <p:ext uri="{BB962C8B-B14F-4D97-AF65-F5344CB8AC3E}">
        <p14:creationId xmlns:p14="http://schemas.microsoft.com/office/powerpoint/2010/main" val="2006294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F91AB-C80C-DB3D-0553-142EEE7A1D94}"/>
              </a:ext>
            </a:extLst>
          </p:cNvPr>
          <p:cNvSpPr>
            <a:spLocks noGrp="1"/>
          </p:cNvSpPr>
          <p:nvPr>
            <p:ph type="title"/>
          </p:nvPr>
        </p:nvSpPr>
        <p:spPr/>
        <p:txBody>
          <a:bodyPr/>
          <a:lstStyle/>
          <a:p>
            <a:r>
              <a:rPr lang="en-US" b="1" dirty="0"/>
              <a:t>Steps/Process Involved in Building a Project</a:t>
            </a:r>
            <a:br>
              <a:rPr lang="en-US" b="1" dirty="0"/>
            </a:br>
            <a:endParaRPr lang="en-US" dirty="0"/>
          </a:p>
        </p:txBody>
      </p:sp>
      <p:sp>
        <p:nvSpPr>
          <p:cNvPr id="3" name="Content Placeholder 2">
            <a:extLst>
              <a:ext uri="{FF2B5EF4-FFF2-40B4-BE49-F238E27FC236}">
                <a16:creationId xmlns:a16="http://schemas.microsoft.com/office/drawing/2014/main" id="{2F9121AC-12B6-D5C9-D319-D8EE16B8C849}"/>
              </a:ext>
            </a:extLst>
          </p:cNvPr>
          <p:cNvSpPr>
            <a:spLocks noGrp="1"/>
          </p:cNvSpPr>
          <p:nvPr>
            <p:ph idx="1"/>
          </p:nvPr>
        </p:nvSpPr>
        <p:spPr/>
        <p:txBody>
          <a:bodyPr>
            <a:normAutofit fontScale="92500" lnSpcReduction="20000"/>
          </a:bodyPr>
          <a:lstStyle/>
          <a:p>
            <a:pPr>
              <a:buFont typeface="Arial" panose="020B0604020202020204" pitchFamily="34" charset="0"/>
              <a:buChar char="•"/>
            </a:pPr>
            <a:r>
              <a:rPr lang="en-US" dirty="0"/>
              <a:t>Add or write the code to create the application creation, and process it into the source code repository.</a:t>
            </a:r>
          </a:p>
          <a:p>
            <a:pPr>
              <a:buFont typeface="Arial" panose="020B0604020202020204" pitchFamily="34" charset="0"/>
              <a:buChar char="•"/>
            </a:pPr>
            <a:r>
              <a:rPr lang="en-US" dirty="0"/>
              <a:t>Edit any necessary configuration / pom.XML / plugin details.</a:t>
            </a:r>
          </a:p>
          <a:p>
            <a:pPr>
              <a:buFont typeface="Arial" panose="020B0604020202020204" pitchFamily="34" charset="0"/>
              <a:buChar char="•"/>
            </a:pPr>
            <a:r>
              <a:rPr lang="en-US" dirty="0"/>
              <a:t>Build the actual application.</a:t>
            </a:r>
          </a:p>
          <a:p>
            <a:pPr>
              <a:buFont typeface="Arial" panose="020B0604020202020204" pitchFamily="34" charset="0"/>
              <a:buChar char="•"/>
            </a:pPr>
            <a:r>
              <a:rPr lang="en-US" dirty="0"/>
              <a:t>Save your build process output as either a WAR or EAR file to a local server or other location.</a:t>
            </a:r>
          </a:p>
          <a:p>
            <a:pPr>
              <a:buFont typeface="Arial" panose="020B0604020202020204" pitchFamily="34" charset="0"/>
              <a:buChar char="•"/>
            </a:pPr>
            <a:r>
              <a:rPr lang="en-US" dirty="0"/>
              <a:t>Access the file from the local location or server and deploy it to the production or client site.</a:t>
            </a:r>
          </a:p>
          <a:p>
            <a:pPr>
              <a:buFont typeface="Arial" panose="020B0604020202020204" pitchFamily="34" charset="0"/>
              <a:buChar char="•"/>
            </a:pPr>
            <a:r>
              <a:rPr lang="en-US" dirty="0"/>
              <a:t>Update the application document by changing the date and updated application version number, if necessary.</a:t>
            </a:r>
          </a:p>
          <a:p>
            <a:pPr>
              <a:buFont typeface="Arial" panose="020B0604020202020204" pitchFamily="34" charset="0"/>
              <a:buChar char="•"/>
            </a:pPr>
            <a:r>
              <a:rPr lang="en-US" dirty="0"/>
              <a:t>Create and generate a report as requested for the application or the requirement.</a:t>
            </a:r>
          </a:p>
          <a:p>
            <a:endParaRPr lang="en-US" dirty="0"/>
          </a:p>
        </p:txBody>
      </p:sp>
    </p:spTree>
    <p:extLst>
      <p:ext uri="{BB962C8B-B14F-4D97-AF65-F5344CB8AC3E}">
        <p14:creationId xmlns:p14="http://schemas.microsoft.com/office/powerpoint/2010/main" val="258465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85604-A9CE-07AA-A42B-207426E9946C}"/>
              </a:ext>
            </a:extLst>
          </p:cNvPr>
          <p:cNvSpPr>
            <a:spLocks noGrp="1"/>
          </p:cNvSpPr>
          <p:nvPr>
            <p:ph type="title"/>
          </p:nvPr>
        </p:nvSpPr>
        <p:spPr/>
        <p:txBody>
          <a:bodyPr/>
          <a:lstStyle/>
          <a:p>
            <a:r>
              <a:rPr lang="en-US" b="1" dirty="0"/>
              <a:t>Advantages of Maven</a:t>
            </a:r>
            <a:br>
              <a:rPr lang="en-US" b="1" dirty="0"/>
            </a:br>
            <a:endParaRPr lang="en-US" dirty="0"/>
          </a:p>
        </p:txBody>
      </p:sp>
      <p:sp>
        <p:nvSpPr>
          <p:cNvPr id="3" name="Content Placeholder 2">
            <a:extLst>
              <a:ext uri="{FF2B5EF4-FFF2-40B4-BE49-F238E27FC236}">
                <a16:creationId xmlns:a16="http://schemas.microsoft.com/office/drawing/2014/main" id="{8CFC0582-E7DE-C5F4-21F1-769A42649CB9}"/>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t>Helps manage all the processes, such as building, documentation, releasing, and distribution in project management</a:t>
            </a:r>
          </a:p>
          <a:p>
            <a:pPr>
              <a:buFont typeface="Arial" panose="020B0604020202020204" pitchFamily="34" charset="0"/>
              <a:buChar char="•"/>
            </a:pPr>
            <a:r>
              <a:rPr lang="en-US" dirty="0"/>
              <a:t>Simplifies the process of project building</a:t>
            </a:r>
          </a:p>
          <a:p>
            <a:pPr>
              <a:buFont typeface="Arial" panose="020B0604020202020204" pitchFamily="34" charset="0"/>
              <a:buChar char="•"/>
            </a:pPr>
            <a:r>
              <a:rPr lang="en-US" dirty="0"/>
              <a:t>Increases the performance of the project and the building process</a:t>
            </a:r>
          </a:p>
          <a:p>
            <a:pPr>
              <a:buFont typeface="Arial" panose="020B0604020202020204" pitchFamily="34" charset="0"/>
              <a:buChar char="•"/>
            </a:pPr>
            <a:r>
              <a:rPr lang="en-US" dirty="0"/>
              <a:t>The task of downloading Jar files and other dependencies is done automatically</a:t>
            </a:r>
          </a:p>
          <a:p>
            <a:pPr>
              <a:buFont typeface="Arial" panose="020B0604020202020204" pitchFamily="34" charset="0"/>
              <a:buChar char="•"/>
            </a:pPr>
            <a:r>
              <a:rPr lang="en-US" dirty="0"/>
              <a:t>Provides easy access to all the required information </a:t>
            </a:r>
          </a:p>
          <a:p>
            <a:pPr>
              <a:buFont typeface="Arial" panose="020B0604020202020204" pitchFamily="34" charset="0"/>
              <a:buChar char="•"/>
            </a:pPr>
            <a:r>
              <a:rPr lang="en-US" dirty="0"/>
              <a:t>Makes it easy for the developer to build a project in different environments without worrying about the dependencies, processes, etc.</a:t>
            </a:r>
          </a:p>
          <a:p>
            <a:pPr>
              <a:buFont typeface="Arial" panose="020B0604020202020204" pitchFamily="34" charset="0"/>
              <a:buChar char="•"/>
            </a:pPr>
            <a:r>
              <a:rPr lang="en-US" dirty="0"/>
              <a:t>In Maven, it’s easy to add new dependencies by writing the dependency code in the pom file</a:t>
            </a:r>
          </a:p>
          <a:p>
            <a:endParaRPr lang="en-US" dirty="0"/>
          </a:p>
        </p:txBody>
      </p:sp>
    </p:spTree>
    <p:extLst>
      <p:ext uri="{BB962C8B-B14F-4D97-AF65-F5344CB8AC3E}">
        <p14:creationId xmlns:p14="http://schemas.microsoft.com/office/powerpoint/2010/main" val="16277013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E7AB8-5625-485A-59FC-614CE362F500}"/>
              </a:ext>
            </a:extLst>
          </p:cNvPr>
          <p:cNvSpPr>
            <a:spLocks noGrp="1"/>
          </p:cNvSpPr>
          <p:nvPr>
            <p:ph type="title"/>
          </p:nvPr>
        </p:nvSpPr>
        <p:spPr/>
        <p:txBody>
          <a:bodyPr/>
          <a:lstStyle/>
          <a:p>
            <a:r>
              <a:rPr lang="en-US" b="1" dirty="0"/>
              <a:t>Disadvantages of Maven</a:t>
            </a:r>
            <a:br>
              <a:rPr lang="en-US" b="1" dirty="0"/>
            </a:br>
            <a:endParaRPr lang="en-US" dirty="0"/>
          </a:p>
        </p:txBody>
      </p:sp>
      <p:sp>
        <p:nvSpPr>
          <p:cNvPr id="3" name="Content Placeholder 2">
            <a:extLst>
              <a:ext uri="{FF2B5EF4-FFF2-40B4-BE49-F238E27FC236}">
                <a16:creationId xmlns:a16="http://schemas.microsoft.com/office/drawing/2014/main" id="{20F0CDCF-D7F0-76C0-7C86-22020C4FBFB6}"/>
              </a:ext>
            </a:extLst>
          </p:cNvPr>
          <p:cNvSpPr>
            <a:spLocks noGrp="1"/>
          </p:cNvSpPr>
          <p:nvPr>
            <p:ph idx="1"/>
          </p:nvPr>
        </p:nvSpPr>
        <p:spPr/>
        <p:txBody>
          <a:bodyPr/>
          <a:lstStyle/>
          <a:p>
            <a:pPr>
              <a:buFont typeface="Arial" panose="020B0604020202020204" pitchFamily="34" charset="0"/>
              <a:buChar char="•"/>
            </a:pPr>
            <a:r>
              <a:rPr lang="en-US" dirty="0"/>
              <a:t>Maven requires installation in the working system and the Maven plug-in for the IDE</a:t>
            </a:r>
          </a:p>
          <a:p>
            <a:pPr>
              <a:buFont typeface="Arial" panose="020B0604020202020204" pitchFamily="34" charset="0"/>
              <a:buChar char="•"/>
            </a:pPr>
            <a:r>
              <a:rPr lang="en-US" dirty="0"/>
              <a:t>If the Maven code for an existing dependency is unavailable, you cannot add that dependency using Maven itself.</a:t>
            </a:r>
          </a:p>
          <a:p>
            <a:pPr>
              <a:buFont typeface="Arial" panose="020B0604020202020204" pitchFamily="34" charset="0"/>
              <a:buChar char="•"/>
            </a:pPr>
            <a:r>
              <a:rPr lang="en-US" dirty="0"/>
              <a:t>Some</a:t>
            </a:r>
            <a:r>
              <a:rPr lang="en-US" dirty="0">
                <a:hlinkClick r:id="rId2" tooltip="sources"/>
              </a:rPr>
              <a:t> sources</a:t>
            </a:r>
            <a:r>
              <a:rPr lang="en-US" dirty="0"/>
              <a:t> claim that Maven is slow.</a:t>
            </a:r>
          </a:p>
        </p:txBody>
      </p:sp>
    </p:spTree>
    <p:extLst>
      <p:ext uri="{BB962C8B-B14F-4D97-AF65-F5344CB8AC3E}">
        <p14:creationId xmlns:p14="http://schemas.microsoft.com/office/powerpoint/2010/main" val="2991322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085375-7BED-2941-3122-2FDE5339F062}"/>
              </a:ext>
            </a:extLst>
          </p:cNvPr>
          <p:cNvSpPr>
            <a:spLocks noGrp="1"/>
          </p:cNvSpPr>
          <p:nvPr>
            <p:ph type="title"/>
          </p:nvPr>
        </p:nvSpPr>
        <p:spPr/>
        <p:txBody>
          <a:bodyPr/>
          <a:lstStyle/>
          <a:p>
            <a:r>
              <a:rPr lang="en-US" b="1" dirty="0"/>
              <a:t>Companies Using Maven </a:t>
            </a:r>
            <a:br>
              <a:rPr lang="en-US" b="1" dirty="0"/>
            </a:br>
            <a:endParaRPr lang="en-US" dirty="0"/>
          </a:p>
        </p:txBody>
      </p:sp>
      <p:sp>
        <p:nvSpPr>
          <p:cNvPr id="3" name="Content Placeholder 2">
            <a:extLst>
              <a:ext uri="{FF2B5EF4-FFF2-40B4-BE49-F238E27FC236}">
                <a16:creationId xmlns:a16="http://schemas.microsoft.com/office/drawing/2014/main" id="{BB3D5DCD-D20B-57BD-3EC0-B8DC1CCC8325}"/>
              </a:ext>
            </a:extLst>
          </p:cNvPr>
          <p:cNvSpPr>
            <a:spLocks noGrp="1"/>
          </p:cNvSpPr>
          <p:nvPr>
            <p:ph idx="1"/>
          </p:nvPr>
        </p:nvSpPr>
        <p:spPr/>
        <p:txBody>
          <a:bodyPr/>
          <a:lstStyle/>
          <a:p>
            <a:pPr>
              <a:buFont typeface="Arial" panose="020B0604020202020204" pitchFamily="34" charset="0"/>
              <a:buChar char="•"/>
            </a:pPr>
            <a:r>
              <a:rPr lang="en-US" dirty="0"/>
              <a:t>Accenture</a:t>
            </a:r>
          </a:p>
          <a:p>
            <a:pPr>
              <a:buFont typeface="Arial" panose="020B0604020202020204" pitchFamily="34" charset="0"/>
              <a:buChar char="•"/>
            </a:pPr>
            <a:r>
              <a:rPr lang="en-US" dirty="0"/>
              <a:t>JPMorgan Chase &amp; Co</a:t>
            </a:r>
          </a:p>
          <a:p>
            <a:pPr>
              <a:buFont typeface="Arial" panose="020B0604020202020204" pitchFamily="34" charset="0"/>
              <a:buChar char="•"/>
            </a:pPr>
            <a:r>
              <a:rPr lang="en-US" dirty="0"/>
              <a:t>Via </a:t>
            </a:r>
            <a:r>
              <a:rPr lang="en-US" dirty="0" err="1"/>
              <a:t>Varejo</a:t>
            </a:r>
            <a:r>
              <a:rPr lang="en-US" dirty="0"/>
              <a:t> </a:t>
            </a:r>
          </a:p>
          <a:p>
            <a:pPr>
              <a:buFont typeface="Arial" panose="020B0604020202020204" pitchFamily="34" charset="0"/>
              <a:buChar char="•"/>
            </a:pPr>
            <a:r>
              <a:rPr lang="en-US" dirty="0"/>
              <a:t>craft base</a:t>
            </a:r>
          </a:p>
          <a:p>
            <a:pPr>
              <a:buFont typeface="Arial" panose="020B0604020202020204" pitchFamily="34" charset="0"/>
              <a:buChar char="•"/>
            </a:pPr>
            <a:r>
              <a:rPr lang="en-US" dirty="0"/>
              <a:t>Red Hat </a:t>
            </a:r>
          </a:p>
          <a:p>
            <a:pPr>
              <a:buFont typeface="Arial" panose="020B0604020202020204" pitchFamily="34" charset="0"/>
              <a:buChar char="•"/>
            </a:pPr>
            <a:r>
              <a:rPr lang="en-US" dirty="0" err="1"/>
              <a:t>Mitratech</a:t>
            </a:r>
            <a:r>
              <a:rPr lang="en-US" dirty="0"/>
              <a:t> Holdings, Inc.</a:t>
            </a:r>
          </a:p>
          <a:p>
            <a:pPr>
              <a:buFont typeface="Arial" panose="020B0604020202020204" pitchFamily="34" charset="0"/>
              <a:buChar char="•"/>
            </a:pPr>
            <a:r>
              <a:rPr lang="en-US" dirty="0"/>
              <a:t>KRG TECHNOLOGIES</a:t>
            </a:r>
          </a:p>
          <a:p>
            <a:pPr>
              <a:buFont typeface="Arial" panose="020B0604020202020204" pitchFamily="34" charset="0"/>
              <a:buChar char="•"/>
            </a:pPr>
            <a:r>
              <a:rPr lang="en-US" dirty="0"/>
              <a:t>Radio - Canada</a:t>
            </a:r>
          </a:p>
          <a:p>
            <a:endParaRPr lang="en-US" dirty="0"/>
          </a:p>
        </p:txBody>
      </p:sp>
    </p:spTree>
    <p:extLst>
      <p:ext uri="{BB962C8B-B14F-4D97-AF65-F5344CB8AC3E}">
        <p14:creationId xmlns:p14="http://schemas.microsoft.com/office/powerpoint/2010/main" val="2987902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13227-A27F-AC81-33E4-96FD19C4174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6F5282F-9739-18D6-BC7D-51D657226776}"/>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FC5CC82A-E5A6-A460-217E-28645BD2CF84}"/>
              </a:ext>
            </a:extLst>
          </p:cNvPr>
          <p:cNvPicPr>
            <a:picLocks noChangeAspect="1"/>
          </p:cNvPicPr>
          <p:nvPr/>
        </p:nvPicPr>
        <p:blipFill>
          <a:blip r:embed="rId2"/>
          <a:stretch>
            <a:fillRect/>
          </a:stretch>
        </p:blipFill>
        <p:spPr>
          <a:xfrm>
            <a:off x="2166937" y="1138237"/>
            <a:ext cx="7858125" cy="4581525"/>
          </a:xfrm>
          <a:prstGeom prst="rect">
            <a:avLst/>
          </a:prstGeom>
        </p:spPr>
      </p:pic>
    </p:spTree>
    <p:extLst>
      <p:ext uri="{BB962C8B-B14F-4D97-AF65-F5344CB8AC3E}">
        <p14:creationId xmlns:p14="http://schemas.microsoft.com/office/powerpoint/2010/main" val="3516850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CB4F1-5913-12F0-2E6E-3740973C2E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BC65FB-3602-8E80-62D6-E8CFC7CD8B7C}"/>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0561571-1600-5220-9A34-82C1ED81F148}"/>
              </a:ext>
            </a:extLst>
          </p:cNvPr>
          <p:cNvPicPr>
            <a:picLocks noChangeAspect="1"/>
          </p:cNvPicPr>
          <p:nvPr/>
        </p:nvPicPr>
        <p:blipFill>
          <a:blip r:embed="rId2"/>
          <a:stretch>
            <a:fillRect/>
          </a:stretch>
        </p:blipFill>
        <p:spPr>
          <a:xfrm>
            <a:off x="981075" y="1085850"/>
            <a:ext cx="10229850" cy="4686300"/>
          </a:xfrm>
          <a:prstGeom prst="rect">
            <a:avLst/>
          </a:prstGeom>
        </p:spPr>
      </p:pic>
    </p:spTree>
    <p:extLst>
      <p:ext uri="{BB962C8B-B14F-4D97-AF65-F5344CB8AC3E}">
        <p14:creationId xmlns:p14="http://schemas.microsoft.com/office/powerpoint/2010/main" val="33612379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2293</TotalTime>
  <Words>1469</Words>
  <Application>Microsoft Office PowerPoint</Application>
  <PresentationFormat>Widescreen</PresentationFormat>
  <Paragraphs>80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Wingdings</vt:lpstr>
      <vt:lpstr>Office Theme</vt:lpstr>
      <vt:lpstr>Maven </vt:lpstr>
      <vt:lpstr>Maven as a Devops Tool </vt:lpstr>
      <vt:lpstr>Maven as a Devops Tool </vt:lpstr>
      <vt:lpstr>PowerPoint Presentation</vt:lpstr>
      <vt:lpstr>Lifecycles, phases, and goals </vt:lpstr>
      <vt:lpstr>Maven and testing  </vt:lpstr>
      <vt:lpstr>Maven component repositories </vt:lpstr>
      <vt:lpstr>Core Concepts of Maven:</vt:lpstr>
      <vt:lpstr>PowerPoint Presentation</vt:lpstr>
      <vt:lpstr>Installation process of Maven </vt:lpstr>
      <vt:lpstr>POM(Project Object Model)</vt:lpstr>
      <vt:lpstr>The Need for Maven </vt:lpstr>
      <vt:lpstr>Steps/Process Involved in Building a Project </vt:lpstr>
      <vt:lpstr>Advantages of Maven </vt:lpstr>
      <vt:lpstr>Disadvantages of Maven </vt:lpstr>
      <vt:lpstr>Companies Using Maven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HRD</dc:creator>
  <cp:lastModifiedBy>Dr.Harpreet Kaur</cp:lastModifiedBy>
  <cp:revision>15</cp:revision>
  <dcterms:created xsi:type="dcterms:W3CDTF">2022-01-13T03:32:26Z</dcterms:created>
  <dcterms:modified xsi:type="dcterms:W3CDTF">2025-12-08T09:42:16Z</dcterms:modified>
</cp:coreProperties>
</file>